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a2624ffd4642e8" /><Relationship Type="http://schemas.openxmlformats.org/officeDocument/2006/relationships/extended-properties" Target="/docProps/app.xml" Id="R50a579bf4e624e06" /><Relationship Type="http://schemas.openxmlformats.org/officeDocument/2006/relationships/officeDocument" Target="/ppt/presentation.xml" Id="R6e8f86391a5348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a3d612d2b49ef"/>
  </p:sldMasterIdLst>
  <p:notesMasterIdLst>
    <p:notesMasterId xmlns:r="http://schemas.openxmlformats.org/officeDocument/2006/relationships" r:id="R8d990eee02ca4845"/>
  </p:notesMasterIdLst>
  <p:sldIdLst>
    <p:sldId xmlns:r="http://schemas.openxmlformats.org/officeDocument/2006/relationships" id="256" r:id="R2a7a23be2a61466f"/>
    <p:sldId xmlns:r="http://schemas.openxmlformats.org/officeDocument/2006/relationships" id="257" r:id="Rb0657b4e8fa04c30"/>
    <p:sldId xmlns:r="http://schemas.openxmlformats.org/officeDocument/2006/relationships" id="258" r:id="R15f153330a3047ba"/>
    <p:sldId xmlns:r="http://schemas.openxmlformats.org/officeDocument/2006/relationships" id="259" r:id="R8a8db3c16ebe4eed"/>
    <p:sldId xmlns:r="http://schemas.openxmlformats.org/officeDocument/2006/relationships" id="260" r:id="R038130cf445d4513"/>
    <p:sldId xmlns:r="http://schemas.openxmlformats.org/officeDocument/2006/relationships" id="261" r:id="R5c9eec842eac4ca2"/>
    <p:sldId xmlns:r="http://schemas.openxmlformats.org/officeDocument/2006/relationships" id="262" r:id="Reb87c833e1f742ad"/>
    <p:sldId xmlns:r="http://schemas.openxmlformats.org/officeDocument/2006/relationships" id="263" r:id="R1b69b997b71a48d5"/>
    <p:sldId xmlns:r="http://schemas.openxmlformats.org/officeDocument/2006/relationships" id="264" r:id="Rb9c1fdba5c55435f"/>
    <p:sldId xmlns:r="http://schemas.openxmlformats.org/officeDocument/2006/relationships" id="265" r:id="R7313e6d422cd4213"/>
    <p:sldId xmlns:r="http://schemas.openxmlformats.org/officeDocument/2006/relationships" id="266" r:id="Ra95fd14c10dc430e"/>
    <p:sldId xmlns:r="http://schemas.openxmlformats.org/officeDocument/2006/relationships" id="267" r:id="Ra4a10f99c5d244ff"/>
    <p:sldId xmlns:r="http://schemas.openxmlformats.org/officeDocument/2006/relationships" id="268" r:id="Rd09e2a104fd544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884c180a134310" /><Relationship Type="http://schemas.openxmlformats.org/officeDocument/2006/relationships/slideMaster" Target="/ppt/slideMasters/slideMaster1.xml" Id="R45da3d612d2b49ef" /><Relationship Type="http://schemas.openxmlformats.org/officeDocument/2006/relationships/notesMaster" Target="/ppt/notesMasters/notesMaster1.xml" Id="R8d990eee02ca4845" /><Relationship Type="http://schemas.openxmlformats.org/officeDocument/2006/relationships/presProps" Target="/ppt/presProps.xml" Id="R77d15789fb4e4bae" /><Relationship Type="http://schemas.openxmlformats.org/officeDocument/2006/relationships/tableStyles" Target="/ppt/tableStyles.xml" Id="Refc46f1930674d19" /><Relationship Type="http://schemas.openxmlformats.org/officeDocument/2006/relationships/slide" Target="/ppt/slides/slide1.xml" Id="R2a7a23be2a61466f" /><Relationship Type="http://schemas.openxmlformats.org/officeDocument/2006/relationships/slide" Target="/ppt/slides/slide2.xml" Id="Rb0657b4e8fa04c30" /><Relationship Type="http://schemas.openxmlformats.org/officeDocument/2006/relationships/slide" Target="/ppt/slides/slide3.xml" Id="R15f153330a3047ba" /><Relationship Type="http://schemas.openxmlformats.org/officeDocument/2006/relationships/slide" Target="/ppt/slides/slide4.xml" Id="R8a8db3c16ebe4eed" /><Relationship Type="http://schemas.openxmlformats.org/officeDocument/2006/relationships/slide" Target="/ppt/slides/slide5.xml" Id="R038130cf445d4513" /><Relationship Type="http://schemas.openxmlformats.org/officeDocument/2006/relationships/slide" Target="/ppt/slides/slide6.xml" Id="R5c9eec842eac4ca2" /><Relationship Type="http://schemas.openxmlformats.org/officeDocument/2006/relationships/slide" Target="/ppt/slides/slide7.xml" Id="Reb87c833e1f742ad" /><Relationship Type="http://schemas.openxmlformats.org/officeDocument/2006/relationships/slide" Target="/ppt/slides/slide8.xml" Id="R1b69b997b71a48d5" /><Relationship Type="http://schemas.openxmlformats.org/officeDocument/2006/relationships/slide" Target="/ppt/slides/slide9.xml" Id="Rb9c1fdba5c55435f" /><Relationship Type="http://schemas.openxmlformats.org/officeDocument/2006/relationships/slide" Target="/ppt/slides/slide10.xml" Id="R7313e6d422cd4213" /><Relationship Type="http://schemas.openxmlformats.org/officeDocument/2006/relationships/slide" Target="/ppt/slides/slide11.xml" Id="Ra95fd14c10dc430e" /><Relationship Type="http://schemas.openxmlformats.org/officeDocument/2006/relationships/slide" Target="/ppt/slides/slide12.xml" Id="Ra4a10f99c5d244ff" /><Relationship Type="http://schemas.openxmlformats.org/officeDocument/2006/relationships/slide" Target="/ppt/slides/slide13.xml" Id="Rd09e2a104fd5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25f9d004444c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ca38b3cd2048e2" /><Relationship Type="http://schemas.openxmlformats.org/officeDocument/2006/relationships/notesMaster" Target="/ppt/notesMasters/notesMaster1.xml" Id="Rbbb200a4ad9b42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f1d6b62d244465" /><Relationship Type="http://schemas.openxmlformats.org/officeDocument/2006/relationships/notesMaster" Target="/ppt/notesMasters/notesMaster1.xml" Id="Rd4baa65a024348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74114476a484f" /><Relationship Type="http://schemas.openxmlformats.org/officeDocument/2006/relationships/notesMaster" Target="/ppt/notesMasters/notesMaster1.xml" Id="Rb42cbcb6bc7b4e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2390d3edfe49cd" /><Relationship Type="http://schemas.openxmlformats.org/officeDocument/2006/relationships/notesMaster" Target="/ppt/notesMasters/notesMaster1.xml" Id="Rbb75e01b126d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c81e5f2f374fde" /><Relationship Type="http://schemas.openxmlformats.org/officeDocument/2006/relationships/notesMaster" Target="/ppt/notesMasters/notesMaster1.xml" Id="R7fd850268d8542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d0131221504576" /><Relationship Type="http://schemas.openxmlformats.org/officeDocument/2006/relationships/notesMaster" Target="/ppt/notesMasters/notesMaster1.xml" Id="R3f0f86dcb8b04e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ff4bdc32cd43dc" /><Relationship Type="http://schemas.openxmlformats.org/officeDocument/2006/relationships/notesMaster" Target="/ppt/notesMasters/notesMaster1.xml" Id="R60001c19c2ed4b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fa319a23104eb9" /><Relationship Type="http://schemas.openxmlformats.org/officeDocument/2006/relationships/notesMaster" Target="/ppt/notesMasters/notesMaster1.xml" Id="R43c3073904954a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5b97d08b4e43a4" /><Relationship Type="http://schemas.openxmlformats.org/officeDocument/2006/relationships/notesMaster" Target="/ppt/notesMasters/notesMaster1.xml" Id="R94162007bbe546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6b8cc94b784d0e" /><Relationship Type="http://schemas.openxmlformats.org/officeDocument/2006/relationships/notesMaster" Target="/ppt/notesMasters/notesMaster1.xml" Id="Rea85f0adccfa46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1cce6af97a4e7d" /><Relationship Type="http://schemas.openxmlformats.org/officeDocument/2006/relationships/notesMaster" Target="/ppt/notesMasters/notesMaster1.xml" Id="R3ec4c194007740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af5c5d3de44122" /><Relationship Type="http://schemas.openxmlformats.org/officeDocument/2006/relationships/notesMaster" Target="/ppt/notesMasters/notesMaster1.xml" Id="Rdba591797b6040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97a2dc49b6462e" /><Relationship Type="http://schemas.openxmlformats.org/officeDocument/2006/relationships/notesMaster" Target="/ppt/notesMasters/notesMaster1.xml" Id="Rabedfb8e1f864d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basada en Proyecto_2.docx y Proyecto_2_MosquitoAlert.ipynb. Dataset: AI Mosquito Alert Challenge 2023, Zenodo DOI 10.5281/zenodo.15063886.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estudia el dataset antes de entrenar un modelo. No realiza diagnóstico médico. Cada imagen tiene una anotación que ubica al mosquito y asigna una clase. Fuente: informe y notebook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posición se normalizó entre 0 y 1 para comparar fotografías de diferentes tamaños. La concentración cerca de 0.5 indica tendencia a centrar el mosquito, un posible sesgo de encuadre que debe vigilarse. Fuente: notebook, celda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Albopictus tiene 4,612 imágenes y Culex 4,563. Aegypti tiene 47 y Anopheles 84. Por eso conviene usar particiones estratificadas y métricas por clase, no solo exactitud global. Fuente: informe, tabla de distribución de clases; notebook, celda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completitud es alta: no hay faltantes, duplicados ni imágenes sin anotación. Los tres casos inválidos exceden el ancho registrado. Los valores extremos no se eliminaron automáticamente porque pueden representar variación real. Fuente: informe, secciones de calidad, variables cuantitativas y outliers; notebook, celdas 9, 13, 19 y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siguiente fase debe priorizar el equilibrio de clases y la robustez ante objetos pequeños o grandes. Las métricas por clase permitirán detectar si el modelo falla en Aegypti o Anopheles aunque el resultado global parezca alto. Fuente: conclusiones del informe.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división evita que los parámetros se escojan con la misma partición usada para informar resultados.</a:t>
            </a:r>
          </a:p>
          <a:p xmlns:a="http://schemas.openxmlformats.org/drawingml/2006/main">
            <a:r>
              <a:t>El muestreo limita únicamente entrenamiento; validación y prueba conservan el desbalance original.</a:t>
            </a:r>
          </a:p>
          <a:p xmlns:a="http://schemas.openxmlformats.org/drawingml/2006/main">
            <a:r>
              <a:t>Fuente: scripts src/modeling.py y src/train_models.py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ajuste es deliberadamente acotado porque esta entrega presenta baselines parciales ejecutables en CPU.</a:t>
            </a:r>
          </a:p>
          <a:p xmlns:a="http://schemas.openxmlformats.org/drawingml/2006/main">
            <a:r>
              <a:t>Fuente: entregables/resultados/ajuste_hiperparametros.csv.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F1 macro da el mismo peso a cada clase y evita que Albopictus y Culex dominen la comparación.</a:t>
            </a:r>
          </a:p>
          <a:p xmlns:a="http://schemas.openxmlformats.org/drawingml/2006/main">
            <a:r>
              <a:t>Fuente: entregables/resultados/metricas_modelos.csv.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recall responde qué proporción de cada clase real logra recuperar el modelo.</a:t>
            </a:r>
          </a:p>
          <a:p xmlns:a="http://schemas.openxmlformats.org/drawingml/2006/main">
            <a:r>
              <a:t>Fuente: entregables/resultados/metricas_por_clase.csv.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normalización por fila evita que el tamaño de las clases mayoritarias oculte los errores de las minoritarias.</a:t>
            </a:r>
          </a:p>
          <a:p xmlns:a="http://schemas.openxmlformats.org/drawingml/2006/main">
            <a:r>
              <a:t>Fuente: entregables/figuras/03_matrices_confusion.png.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entrada se recorta opcionalmente y pasa por el mismo preprocesamiento del entrenamiento.</a:t>
            </a:r>
          </a:p>
          <a:p xmlns:a="http://schemas.openxmlformats.org/drawingml/2006/main">
            <a:r>
              <a:t>La salida es experimental y no sustituye una identificación entomológica experta.</a:t>
            </a:r>
          </a:p>
          <a:p xmlns:a="http://schemas.openxmlformats.org/drawingml/2006/main">
            <a:r>
              <a:t>Fuente: app.py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modelos completan la fase de resultados parciales y dejan un benchmark para una CNN posterior.</a:t>
            </a:r>
          </a:p>
          <a:p xmlns:a="http://schemas.openxmlformats.org/drawingml/2006/main">
            <a:r>
              <a:t>No se debe presentar el porcentaje global como si representara por igual a las seis clases.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ab9d4d91541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e5f1a5821e4de6" /><Relationship Type="http://schemas.openxmlformats.org/officeDocument/2006/relationships/slideLayout" Target="/ppt/slideLayouts/slideLayout1.xml" Id="R378c1863b33a4d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c1863b33a4d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5e42fc2134761" /><Relationship Type="http://schemas.openxmlformats.org/officeDocument/2006/relationships/image" Target="/ppt/media/image.png" Id="R41c62e19943a4001" /><Relationship Type="http://schemas.openxmlformats.org/officeDocument/2006/relationships/notesSlide" Target="/ppt/notesSlides/notesSlide1.xml" Id="Rb1faee383fbe4e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cbc2688c5453d" /><Relationship Type="http://schemas.openxmlformats.org/officeDocument/2006/relationships/notesSlide" Target="/ppt/notesSlides/notesSlide2.xml" Id="Redb0172e543545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aea71edd04f3b" /><Relationship Type="http://schemas.openxmlformats.org/officeDocument/2006/relationships/image" Target="/ppt/media/image2.png" Id="R8e1e21481d654376" /><Relationship Type="http://schemas.openxmlformats.org/officeDocument/2006/relationships/notesSlide" Target="/ppt/notesSlides/notesSlide3.xml" Id="Rcda260ad02f74c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1aa0596b340cb" /><Relationship Type="http://schemas.openxmlformats.org/officeDocument/2006/relationships/chart" Target="/ppt/slides/charts/chart1.xml" Id="Rfab1ed3211604ef6" /><Relationship Type="http://schemas.openxmlformats.org/officeDocument/2006/relationships/notesSlide" Target="/ppt/notesSlides/notesSlide4.xml" Id="R47a122c938e341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40c0033d847c5" /><Relationship Type="http://schemas.openxmlformats.org/officeDocument/2006/relationships/image" Target="/ppt/media/image3.png" Id="R45342fd573464a7c" /><Relationship Type="http://schemas.openxmlformats.org/officeDocument/2006/relationships/notesSlide" Target="/ppt/notesSlides/notesSlide5.xml" Id="Rce10344cecba49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a1760a172499f" /><Relationship Type="http://schemas.openxmlformats.org/officeDocument/2006/relationships/notesSlide" Target="/ppt/notesSlides/notesSlide6.xml" Id="R9ec52b9a74584f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6b857def24b09" /><Relationship Type="http://schemas.openxmlformats.org/officeDocument/2006/relationships/notesSlide" Target="/ppt/notesSlides/notesSlide7.xml" Id="R81f48c6493054b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9f0df5506468c" /><Relationship Type="http://schemas.openxmlformats.org/officeDocument/2006/relationships/notesSlide" Target="/ppt/notesSlides/notesSlide8.xml" Id="R6e111a0c38f641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3962b08bb4257" /><Relationship Type="http://schemas.openxmlformats.org/officeDocument/2006/relationships/chart" Target="/ppt/slides/charts/chart2.xml" Id="R04713d847c2d4876" /><Relationship Type="http://schemas.openxmlformats.org/officeDocument/2006/relationships/notesSlide" Target="/ppt/notesSlides/notesSlide9.xml" Id="Rf40913558154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184a38b174fdb" /><Relationship Type="http://schemas.openxmlformats.org/officeDocument/2006/relationships/chart" Target="/ppt/slides/charts/chart3.xml" Id="R9bbb095e45cd4d95" /><Relationship Type="http://schemas.openxmlformats.org/officeDocument/2006/relationships/notesSlide" Target="/ppt/notesSlides/notesSlide10.xml" Id="Rf0bcd270556440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ce35e57054395" /><Relationship Type="http://schemas.openxmlformats.org/officeDocument/2006/relationships/image" Target="/ppt/media/image4.png" Id="R9cacf583fe7f4d5f" /><Relationship Type="http://schemas.openxmlformats.org/officeDocument/2006/relationships/notesSlide" Target="/ppt/notesSlides/notesSlide11.xml" Id="R76772b5307df4e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01d0009d447ba" /><Relationship Type="http://schemas.openxmlformats.org/officeDocument/2006/relationships/image" Target="/ppt/media/image5.png" Id="Rf5bad0c1f29c4eed" /><Relationship Type="http://schemas.openxmlformats.org/officeDocument/2006/relationships/image" Target="/ppt/media/image6.png" Id="R84fadf0fdc004735" /><Relationship Type="http://schemas.openxmlformats.org/officeDocument/2006/relationships/notesSlide" Target="/ppt/notesSlides/notesSlide12.xml" Id="Rce6fb03308994c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81d6148c340da" /><Relationship Type="http://schemas.openxmlformats.org/officeDocument/2006/relationships/notesSlide" Target="/ppt/notesSlides/notesSlide13.xml" Id="Re46992f6bf7c4e5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Cantidad de imágenes por grupo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73A2B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Imágenes</c:v>
          </c:tx>
          <c:spPr>
            <a:solidFill xmlns:a="http://schemas.openxmlformats.org/drawingml/2006/main">
              <a:srgbClr val="2D5A4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3913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3913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Aegypti</c:v>
                </c:pt>
                <c:pt idx="1">
                  <c:v>Anopheles</c:v>
                </c:pt>
                <c:pt idx="2">
                  <c:v>Japonicus-koreicus</c:v>
                </c:pt>
                <c:pt idx="3">
                  <c:v>Culiseta</c:v>
                </c:pt>
                <c:pt idx="4">
                  <c:v>Culex</c:v>
                </c:pt>
                <c:pt idx="5">
                  <c:v>Albopictus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47</c:v>
                </c:pt>
                <c:pt idx="1">
                  <c:v>84</c:v>
                </c:pt>
                <c:pt idx="2">
                  <c:v>429</c:v>
                </c:pt>
                <c:pt idx="3">
                  <c:v>622</c:v>
                </c:pt>
                <c:pt idx="4">
                  <c:v>4563</c:v>
                </c:pt>
                <c:pt idx="5">
                  <c:v>4612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331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E9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F1 macro</c:v>
          </c:tx>
          <c:spPr>
            <a:solidFill xmlns:a="http://schemas.openxmlformats.org/drawingml/2006/main">
              <a:srgbClr val="173A2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Bosque aleatorio</c:v>
                </c:pt>
                <c:pt idx="1">
                  <c:v>Regresión logística</c:v>
                </c:pt>
                <c:pt idx="2">
                  <c:v>SVM lineal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0.267</c:v>
                </c:pt>
                <c:pt idx="1">
                  <c:v>0.2068</c:v>
                </c:pt>
                <c:pt idx="2">
                  <c:v>0.1975</c:v>
                </c:pt>
              </c:numCache>
            </c:numRef>
          </c:val>
        </c:ser>
        <c:ser>
          <c:idx val="1"/>
          <c:order val="1"/>
          <c:tx>
            <c:v>Exactitud balanceada</c:v>
          </c:tx>
          <c:spPr>
            <a:solidFill xmlns:a="http://schemas.openxmlformats.org/drawingml/2006/main">
              <a:srgbClr val="C3913C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Bosque aleatorio</c:v>
                </c:pt>
                <c:pt idx="1">
                  <c:v>Regresión logística</c:v>
                </c:pt>
                <c:pt idx="2">
                  <c:v>SVM lineal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0.2838</c:v>
                </c:pt>
                <c:pt idx="1">
                  <c:v>0.2028</c:v>
                </c:pt>
                <c:pt idx="2">
                  <c:v>0.1934</c:v>
                </c:pt>
              </c:numCache>
            </c:numRef>
          </c:val>
        </c:ser>
        <c:ser>
          <c:idx val="2"/>
          <c:order val="2"/>
          <c:tx>
            <c:v>Exactitud global</c:v>
          </c:tx>
          <c:spPr>
            <a:solidFill xmlns:a="http://schemas.openxmlformats.org/drawingml/2006/main">
              <a:srgbClr val="7B9B83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Bosque aleatorio</c:v>
                </c:pt>
                <c:pt idx="1">
                  <c:v>Regresión logística</c:v>
                </c:pt>
                <c:pt idx="2">
                  <c:v>SVM lineal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0.7561</c:v>
                </c:pt>
                <c:pt idx="1">
                  <c:v>0.5244</c:v>
                </c:pt>
                <c:pt idx="2">
                  <c:v>0.5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2331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AF6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36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BFAF6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Bosque aleatorio</c:v>
          </c:tx>
          <c:spPr>
            <a:solidFill xmlns:a="http://schemas.openxmlformats.org/drawingml/2006/main">
              <a:srgbClr val="173A2B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aegypti</c:v>
                </c:pt>
                <c:pt idx="1">
                  <c:v>albopictus</c:v>
                </c:pt>
                <c:pt idx="2">
                  <c:v>anopheles</c:v>
                </c:pt>
                <c:pt idx="3">
                  <c:v>culex</c:v>
                </c:pt>
                <c:pt idx="4">
                  <c:v>culiseta</c:v>
                </c:pt>
                <c:pt idx="5">
                  <c:v>japonicus-koreicus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0</c:v>
                </c:pt>
                <c:pt idx="1">
                  <c:v>0.8703</c:v>
                </c:pt>
                <c:pt idx="2">
                  <c:v>0</c:v>
                </c:pt>
                <c:pt idx="3">
                  <c:v>0.8324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v>Regresión logística</c:v>
          </c:tx>
          <c:spPr>
            <a:solidFill xmlns:a="http://schemas.openxmlformats.org/drawingml/2006/main">
              <a:srgbClr val="C3913C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aegypti</c:v>
                </c:pt>
                <c:pt idx="1">
                  <c:v>albopictus</c:v>
                </c:pt>
                <c:pt idx="2">
                  <c:v>anopheles</c:v>
                </c:pt>
                <c:pt idx="3">
                  <c:v>culex</c:v>
                </c:pt>
                <c:pt idx="4">
                  <c:v>culiseta</c:v>
                </c:pt>
                <c:pt idx="5">
                  <c:v>japonicus-koreicus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0</c:v>
                </c:pt>
                <c:pt idx="1">
                  <c:v>0.5622</c:v>
                </c:pt>
                <c:pt idx="2">
                  <c:v>0</c:v>
                </c:pt>
                <c:pt idx="3">
                  <c:v>0.6145</c:v>
                </c:pt>
                <c:pt idx="4">
                  <c:v>0.04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v>SVM lineal</c:v>
          </c:tx>
          <c:spPr>
            <a:solidFill xmlns:a="http://schemas.openxmlformats.org/drawingml/2006/main">
              <a:srgbClr val="7B9B83"/>
            </a:solidFill>
          </c:spPr>
          <c:invertIfNegative val="0"/>
          <c:cat>
            <c:strRef>
              <c:f>'Chart Data'!$E$2:$E$7</c:f>
              <c:strCache>
                <c:ptCount val="6"/>
                <c:pt idx="0">
                  <c:v>aegypti</c:v>
                </c:pt>
                <c:pt idx="1">
                  <c:v>albopictus</c:v>
                </c:pt>
                <c:pt idx="2">
                  <c:v>anopheles</c:v>
                </c:pt>
                <c:pt idx="3">
                  <c:v>culex</c:v>
                </c:pt>
                <c:pt idx="4">
                  <c:v>culiseta</c:v>
                </c:pt>
                <c:pt idx="5">
                  <c:v>japonicus-koreicus</c:v>
                </c:pt>
              </c:strCache>
            </c:strRef>
          </c:cat>
          <c:val>
            <c:numRef>
              <c:f>'Chart Data'!$F$2:$F$7</c:f>
              <c:numCache>
                <c:formatCode>0.0</c:formatCode>
                <c:ptCount val="6"/>
                <c:pt idx="0">
                  <c:v>0</c:v>
                </c:pt>
                <c:pt idx="1">
                  <c:v>0.5676</c:v>
                </c:pt>
                <c:pt idx="2">
                  <c:v>0</c:v>
                </c:pt>
                <c:pt idx="3">
                  <c:v>0.5531</c:v>
                </c:pt>
                <c:pt idx="4">
                  <c:v>0.04</c:v>
                </c:pt>
                <c:pt idx="5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BFAF6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36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BFAF6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D5797-F212-4DAD-807A-7771291C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0"/>
            <a:ext cx="2247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354EE-9E10-4A39-8912-C0439513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100" b="1" i="0">
                <a:solidFill>
                  <a:srgbClr val="2D5A45"/>
                </a:solidFill>
                <a:latin typeface="Arial"/>
                <a:ea typeface="Arial"/>
                <a:cs typeface="Arial"/>
              </a:defRPr>
            </a:pPr>
            <a:r>
              <a:rPr sz="14100" b="1" i="0">
                <a:solidFill>
                  <a:srgbClr val="2D5A45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A701E-725F-49A6-8CB1-EAED7E0D6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62e19943a4001"/>
          <a:stretch xmlns:a="http://schemas.openxmlformats.org/drawingml/2006/main"/>
        </p:blipFill>
        <p:spPr>
          <a:xfrm xmlns:a="http://schemas.openxmlformats.org/drawingml/2006/main">
            <a:off x="687393" y="514350"/>
            <a:ext cx="720714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847E4-C907-47E5-BF37-88BD57DB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4E3CD-510A-416B-850E-4E20963F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Resultados y análisis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Mosquito Alert Challenge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B21C1-A393-420F-8E90-3CD4D1B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0E4CF"/>
                </a:solidFill>
                <a:latin typeface="Arial"/>
                <a:ea typeface="Arial"/>
                <a:cs typeface="Arial"/>
              </a:rPr>
              <a:t>Identificación automática de mosquitos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3D1D8-64BB-4034-AE93-E46D77BB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Ihan Marroquin · Diego Patzan · Milton Polanco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73464-33F0-499B-9D08-4EBC1B4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5E9E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5E9E3"/>
                </a:solidFill>
                <a:latin typeface="Arial"/>
                <a:ea typeface="Arial"/>
                <a:cs typeface="Arial"/>
              </a:rPr>
              <a:t>Guatemala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42429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38649-CDD0-4132-A142-2A2588A4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Contexto y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F5A80-426D-418D-93D7-3B2A3451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BCCCD-9F08-4EAA-A7BE-E6BE67A9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A0E7A-B05D-46D4-8BDE-9CE32D79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Pregunta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F2B50-F647-44EB-8A03-78658FF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¿Qué tan listo está el conjunto de imágenes para entrenar un modelo de identificación automática?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5F008-3C4A-4215-A664-12B5C87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62100"/>
            <a:ext cx="381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607CE-1FF4-45FD-85DF-663D12F7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E30A5-A1E5-4A96-9961-3C8AAD03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Revisar si existen suficientes ejemplos por grupo y si las imágenes y sus anotaciones tienen la calidad necesaria para una fase posterior de modelado.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A3ABA-7430-481F-AC5B-5AE8D5A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5B5CE-E477-4272-BC54-5D1B864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10,357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DA882-BB76-4608-892E-D281CBD5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imágenes con anotación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4736F-1974-4E5B-86A7-EC5AC5C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A8B66-F148-47D0-B997-453B2DC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grupos taxonómicos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5C841-8998-4ABC-AF77-5DD3AD5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1:1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0116E-152B-4066-97ED-0723F92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correspondencia entre imágenes y registros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1DC90-1467-42D0-8E5B-EEAAC0C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165F7-CC34-4D2C-9D80-57F45249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98026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3B7CF-A09E-485C-9F01-ADF53C1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Trabajo realizado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1AE71-F1CA-44EB-8D00-87B98B38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1EC1F-FCB2-4730-8E20-F682D891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1882A-ED7A-41F2-B3EF-AB475AC8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F20A3-F785-4852-81BE-65AAA0F1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452BE-A8EF-4ACC-95EE-B238956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85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Descarga, carga y verificación de los 10,357 registros.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E1AA3-B89C-4F49-9A9C-DE2DB23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A5A1D-E38A-440B-8026-8E264152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574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Control de calidad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519AC-6F77-4B87-BD02-5A35746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194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Revisión de faltantes, duplicados, archivos y anotaciones inválidas.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D3AF1-4BFE-4171-9FFC-F1EC96B4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72F6C-7475-4410-87BA-5E34C5C5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909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Distribución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7D13E-721F-480A-9180-D78B069F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529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Comparación de la cantidad de imágenes disponible para cada grupo.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BEB20-8287-44DE-8A25-BBF050BA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8EE72-E962-4D21-9722-F3B39B8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244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Escala y posición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0FCFE-60DA-4632-BA84-DBA0113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863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Análisis del tamaño del mosquito y de su ubicación dentro de la fotografía.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BB9D9-9343-4A24-8310-92FC8E8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53530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475C29-FC7F-4985-8CD0-9625CE09C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e21481d654376"/>
          <a:stretch xmlns:a="http://schemas.openxmlformats.org/drawingml/2006/main"/>
        </p:blipFill>
        <p:spPr>
          <a:xfrm xmlns:a="http://schemas.openxmlformats.org/drawingml/2006/main">
            <a:off x="6238875" y="1726675"/>
            <a:ext cx="3333750" cy="33379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224D-5A36-429D-9A36-F9B7BAD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Encuadre central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C3AB8-29C3-4FD3-8C9A-D31733B7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Centro promedio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(0.490, 0.496)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6CA26-EBA6-48EC-B785-177249D0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El notebook se ejecutó de inicio a fin sin errores.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66616-B181-45AB-87A1-DCDE9EC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8EB68-3C53-497E-847C-A61630C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2119476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AA2C5-E7CE-4D80-B9E2-8DE6574B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El conjunto está fuertemente desbalanceado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FA05C-95B4-47B7-A06A-97B664C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3CF9A-941C-481D-9CCE-E8FF7029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A0728097-8091-483B-AA7E-57EDA1EE0540}"/>
              </a:ext>
            </a:extLst>
          </p:cNvPr>
          <p:cNvGraphicFramePr/>
          <p:nvPr/>
        </p:nvGraphicFramePr>
        <p:xfrm>
          <a:off xmlns:a="http://schemas.openxmlformats.org/drawingml/2006/main" x="495300" y="1504950"/>
          <a:ext xmlns:a="http://schemas.openxmlformats.org/drawingml/2006/main" cx="7286625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b1ed3211604ef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A0E54-8256-4172-8BAC-07320022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88.59%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FC691-16D9-41DA-9B73-050C2FC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de las imágenes pertenecen a Albopictus o Culex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225D0-7272-454C-9F92-89408649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AD6A1-05CC-4CF6-A24F-E4016EC7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98:1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551D3-2D74-42CD-8364-3027FA63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481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relación aproximada entre la clase mayoritaria y la minoritaria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26F9B-8861-4037-8AE6-53AF2D5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768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A64B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4B38"/>
                </a:solidFill>
                <a:latin typeface="Arial"/>
                <a:ea typeface="Arial"/>
                <a:cs typeface="Arial"/>
              </a:rPr>
              <a:t>Una exactitud global podría ocultar errores en los grupos con pocos ejemplos.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A31CA-FA0F-4F91-9154-A263DBD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2D77C-D598-4895-9A72-4ED2FB27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051874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E6A38-5705-4287-BABE-3AF46D3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Calidad y variabilidad de las imágenes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36350-6EC5-45D2-B35D-C5C85CD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9AD00-2035-48A5-900F-DCF524A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2FDC4-0AC9-4FA3-B870-D8D942C4C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42fd573464a7c"/>
          <a:stretch xmlns:a="http://schemas.openxmlformats.org/drawingml/2006/main"/>
        </p:blipFill>
        <p:spPr>
          <a:xfrm xmlns:a="http://schemas.openxmlformats.org/drawingml/2006/main">
            <a:off x="609600" y="1658733"/>
            <a:ext cx="6572250" cy="41977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064DF-73E8-4A72-86FC-841727C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Fondos, iluminación y escala cambian entre fotografías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1A898-04F1-40EB-9384-C8D0F40F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24000"/>
            <a:ext cx="381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48C5E-7D5B-4D6B-8C51-B6244734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Completitud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68F6C-E98C-4C08-9379-E4F74DE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AE296-88E8-4756-BB3E-B40E3195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faltantes y 0 duplicados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DB379-11F2-41AE-91D9-2CCCF8F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Anotaciones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079E8-5FFF-4635-9D32-261B929F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3257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7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3 cajas exceden el ancho de la imagen y requieren revisión antes del entrenamiento.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AE4A2-2D59-4716-83EA-D754175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Escala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F35A9-E8CD-4B16-AF2E-9AAC282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3257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La caja ocupa una mediana de 7.29% del área. La resolución va de 139 × 106 a 9,280 × 12,000 píxeles.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C9170-001C-409C-8393-B2A491C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A71D4-1A2E-4E72-A48B-950D03F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305034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316D9-A131-4E6E-AAF3-672F59A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Conclusiones del 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384ED-AB80-4EDA-BA6E-0910CE19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20B0F-116E-40F6-BBA2-2B88F7C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5AED1-20FC-4FEC-9F0C-0A6D7BDC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292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3A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6F739-5A77-45C3-A7B6-A0256F95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35334-9722-458B-B09C-2141C71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39814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dataset está listo para una fase de modelado, siempre que se corrijan tres anotaciones y se controle el desbalance y la variación de escala.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DA7A-BC39-47D4-AA26-874A4098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0" i="0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0E4CF"/>
                </a:solidFill>
                <a:latin typeface="Arial"/>
                <a:ea typeface="Arial"/>
                <a:cs typeface="Arial"/>
              </a:rPr>
              <a:t>La tendencia a centrar el mosquito también debe vigilarse para evitar que el modelo dependa del encuadre.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A5DEF-154F-426B-B95C-7B74E0E1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EFD86-CA13-419C-BB67-2C9B557E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Revisar y corregir o excluir las 3 cajas inválidas.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Crear divisiones estratificadas para entrenamiento y validación.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Redimensionar las imágenes sin deformar su proporción.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Reforzar las clases minoritarias con aumentación o ponderación.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Evaluar resultados por clase y con métricas macro.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B6544-DED3-44E7-A187-7DF17B8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102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A64B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4B38"/>
                </a:solidFill>
                <a:latin typeface="Arial"/>
                <a:ea typeface="Arial"/>
                <a:cs typeface="Arial"/>
              </a:rPr>
              <a:t>Resultado esperado: un modelo que reconozca grupos frecuentes y poco representados en condiciones visuales diversas.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04361-26B9-42D3-B463-E8864D35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399BC-7D72-4FA3-B605-D3A6FA2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051040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15D73-1D01-4C46-9B4F-DEBC4E74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Metodología de modelado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A08C6-7F23-4332-A665-3B831528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solidFill>
              <a:srgbClr val="C391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94B8D-0739-4950-9261-8E5E0A2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9311E-B3CC-4A45-A4FB-D2295640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F66D3-8B13-4764-AF39-9E45290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62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5E7D9-2585-4234-9231-1F3890F3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240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6736C"/>
                </a:solidFill>
                <a:latin typeface="Arial"/>
                <a:ea typeface="Arial"/>
                <a:cs typeface="Arial"/>
              </a:rPr>
              <a:t>Corrección EXIF y recorte del mosquito con 5% de margen.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2ABEA-E3CA-472F-80E8-9F91D6AF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0D3D0-8F22-4CB4-A123-C03D5EA8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Representación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30983-D320-47E0-9ACA-4D12CED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6736C"/>
                </a:solidFill>
                <a:latin typeface="Arial"/>
                <a:ea typeface="Arial"/>
                <a:cs typeface="Arial"/>
              </a:rPr>
              <a:t>Letterbox de 96 × 96, HOG para forma e HSV para color.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BB0D3-613A-4758-9594-682233B0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DD429-A52D-4BEB-9C53-3D9C3B0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Particiones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5360F-FC5A-4CDA-AD1B-B05F3082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338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6736C"/>
                </a:solidFill>
                <a:latin typeface="Arial"/>
                <a:ea typeface="Arial"/>
                <a:cs typeface="Arial"/>
              </a:rPr>
              <a:t>2,728 imágenes; división estratificada y máximo de 600 por clase en entrenamiento.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63EEE-823E-4D47-B8D9-007CBF77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C9983-1C84-4655-A707-87ABB023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76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Selección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0CF8B-2921-458F-896F-0229292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6736C"/>
                </a:solidFill>
                <a:latin typeface="Arial"/>
                <a:ea typeface="Arial"/>
                <a:cs typeface="Arial"/>
              </a:rPr>
              <a:t>Dos configuraciones por familia; criterio principal: F1 macro de validación.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036EA-22E6-4851-B140-B766A1C4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173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8F125-2272-4A39-8E63-B03E5A4E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52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PARTICIONES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44506-53E9-4D1F-A87E-6308B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1,414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2D2ED-409D-4F7F-AA35-550ECB6E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>
                <a:solidFill>
                  <a:srgbClr val="F0E4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0E4CF"/>
                </a:solidFill>
                <a:latin typeface="Arial"/>
                <a:ea typeface="Arial"/>
                <a:cs typeface="Arial"/>
              </a:rPr>
              <a:t>entrenamiento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69A0A-6552-42D0-9CFF-17C5F535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410 validación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4E955-A4F2-4A4F-8756-AE783EAF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410 prueba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DF13F-C1F9-4647-92FC-E53C595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720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>
                <a:solidFill>
                  <a:srgbClr val="F0E4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E4CF"/>
                </a:solidFill>
                <a:latin typeface="Arial"/>
                <a:ea typeface="Arial"/>
                <a:cs typeface="Arial"/>
              </a:rPr>
              <a:t>1 cajas fuera de límites se ajustan al recortar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68AE1-CDE3-48F6-9489-D55A35DE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494AB-F02B-4C19-A743-362BBEF0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016802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5FE35-243C-4DC0-9226-BE5C77F6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Ajuste de hiperparámetros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36A86-0AD9-4FBF-B703-5504CE13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solidFill>
              <a:srgbClr val="C391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3D633-94DB-424B-869F-CE422BD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BB0EF-233F-408F-8DBF-B5C7FC26CF2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381375"/>
                <a:gridCol w="2095500"/>
                <a:gridCol w="3019425"/>
              </a:tblGrid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76200" marR="76200" marT="66675" marB="66675" anchor="ctr">
                    <a:solidFill>
                      <a:srgbClr val="173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Configuración</a:t>
                      </a:r>
                    </a:p>
                  </a:txBody>
                  <a:tcPr marL="76200" marR="76200" marT="66675" marB="66675" anchor="ctr">
                    <a:solidFill>
                      <a:srgbClr val="173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Rasgos</a:t>
                      </a:r>
                    </a:p>
                  </a:txBody>
                  <a:tcPr marL="76200" marR="76200" marT="66675" marB="66675" anchor="ctr">
                    <a:solidFill>
                      <a:srgbClr val="173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macro validación</a:t>
                      </a:r>
                    </a:p>
                  </a:txBody>
                  <a:tcPr marL="76200" marR="76200" marT="66675" marB="66675" anchor="ctr">
                    <a:solidFill>
                      <a:srgbClr val="173A2B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Bosque aleatorio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500 árboles, hoja=1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HSV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0.271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Bosque aleatorio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300 árboles, hoja=2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HSV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0.268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Regresión logística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C=0.5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HOG + HSV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0.235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Regresión logística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C=2.0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HOG + HSV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0.226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SVM lineal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C=0.1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HOG + HSV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0.220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SVM lineal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C=0.5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HOG + HSV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3312A"/>
                          </a:solidFill>
                          <a:latin typeface="Arial"/>
                          <a:ea typeface="Arial"/>
                          <a:cs typeface="Arial"/>
                        </a:rPr>
                        <a:t>0.220</a:t>
                      </a:r>
                    </a:p>
                  </a:txBody>
                  <a:tcPr marL="76200" marR="76200" marT="57150" marB="57150" anchor="ctr">
                    <a:solidFill>
                      <a:srgbClr val="F2F5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D31BA-673C-415D-9766-F2D36AE2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Selección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2C0E3-A71A-4772-AF75-27721C94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>
                <a:solidFill>
                  <a:srgbClr val="2331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3312A"/>
                </a:solidFill>
                <a:latin typeface="Arial"/>
                <a:ea typeface="Arial"/>
                <a:cs typeface="Arial"/>
              </a:rPr>
              <a:t>Se elige la mejor configuración de cada familia por F1 macro en validación; después se reajusta con entrenamiento más validación y se evalúa una vez en prueba.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2CFD9-F0FE-4AF8-9BF9-BB1154AC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8FC58-3CB4-4A98-B57E-B93538A5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478056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8B5F7-C14F-4FFD-BE47-3B80083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Comparación de modelos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BE740-B6FA-4C74-97B4-496973B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solidFill>
              <a:srgbClr val="C391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32E28-1378-410F-89E9-9671000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CBEA817-3313-4CFE-BF72-91D0A1F88D8F}"/>
              </a:ext>
            </a:extLst>
          </p:cNvPr>
          <p:cNvGraphicFramePr/>
          <p:nvPr/>
        </p:nvGraphicFramePr>
        <p:xfrm>
          <a:off xmlns:a="http://schemas.openxmlformats.org/drawingml/2006/main" x="495300" y="1504950"/>
          <a:ext xmlns:a="http://schemas.openxmlformats.org/drawingml/2006/main" cx="76200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713d847c2d48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19567-1DEF-4FBF-A6AA-D334C473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MEJOR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6D8CE-ED0F-49F5-A79F-5B40EA60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325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Bosque aleatorio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63FE8-848F-4AC8-B7EA-A8D6200A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0.267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E370D-DAEB-45E5-940E-B3E1C576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36C"/>
                </a:solidFill>
                <a:latin typeface="Arial"/>
                <a:ea typeface="Arial"/>
                <a:cs typeface="Arial"/>
              </a:rPr>
              <a:t>F1 macro en prueba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B2AED-FA46-4A49-9680-53FD70DC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29150"/>
            <a:ext cx="289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A64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64B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4B38"/>
                </a:solidFill>
                <a:latin typeface="Arial"/>
                <a:ea typeface="Arial"/>
                <a:cs typeface="Arial"/>
              </a:rPr>
              <a:t>La exactitud global puede favorecer las dos clases mayoritarias. La selección se apoya en promedios macro.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464A5-E247-4082-921B-43D5782F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80A2A-1A84-4983-A2D7-57A93AF4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860864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658BA-194C-49C2-A908-50F2E1A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Rendimiento por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6BBD3-4E95-49A1-A946-1A5D5588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solidFill>
              <a:srgbClr val="C391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CD337-FFA9-4518-96DA-0465C01D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ADD284F-BA52-480D-BB53-E7937F8D556C}"/>
              </a:ext>
            </a:extLst>
          </p:cNvPr>
          <p:cNvGraphicFramePr/>
          <p:nvPr/>
        </p:nvGraphicFramePr>
        <p:xfrm>
          <a:off xmlns:a="http://schemas.openxmlformats.org/drawingml/2006/main" x="495300" y="1524000"/>
          <a:ext xmlns:a="http://schemas.openxmlformats.org/drawingml/2006/main" cx="7810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bb095e45cd4d9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C6AA5-D381-492D-80E4-A3AABACA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LECTURA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220B8-FD45-49B6-BE8D-9DD2A599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aegypti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E5212-52D2-48E2-8674-7B14136D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200" b="1">
                <a:solidFill>
                  <a:srgbClr val="A64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200" b="1">
                <a:solidFill>
                  <a:srgbClr val="A64B3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A64B38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4F96A-DF60-43ED-A7CA-A193A25F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6736C"/>
                </a:solidFill>
                <a:latin typeface="Arial"/>
                <a:ea typeface="Arial"/>
                <a:cs typeface="Arial"/>
              </a:rPr>
              <a:t>recall más bajo del modelo seleccionado</a:t>
            </a:r>
          </a:p>
          <a:p xmlns:a="http://schemas.openxmlformats.org/drawingml/2006/main">
            <a:pPr algn="ctr">
              <a:defRPr sz="142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6736C"/>
                </a:solidFill>
                <a:latin typeface="Arial"/>
                <a:ea typeface="Arial"/>
                <a:cs typeface="Arial"/>
              </a:rPr>
              <a:t>soporte de prueba: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B4DDB-95DC-487E-B507-7557398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2331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312A"/>
                </a:solidFill>
                <a:latin typeface="Arial"/>
                <a:ea typeface="Arial"/>
                <a:cs typeface="Arial"/>
              </a:rPr>
              <a:t>Los pocos ejemplos de Aegypti y Anopheles vuelven inestables sus métricas. Cada error pesa mucho más.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C04A3-0933-415B-8199-C0ADB2B6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6A67D-8808-4149-A426-52318D60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317987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D3E87-BB96-4BB3-B26E-279E22F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Dónde se equivocan los modelos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2A70B-FDBF-4675-A1F0-5D9EF928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solidFill>
              <a:srgbClr val="C391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DF819-E507-4AA3-80BE-EBC3AAE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6628B-AE23-4055-86DB-A0D1F30E8C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cf583fe7f4d5f"/>
          <a:stretch xmlns:a="http://schemas.openxmlformats.org/drawingml/2006/main"/>
        </p:blipFill>
        <p:spPr>
          <a:xfrm xmlns:a="http://schemas.openxmlformats.org/drawingml/2006/main">
            <a:off x="571500" y="2006081"/>
            <a:ext cx="11049000" cy="328398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68364-02D4-4F4E-95A4-6C889511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05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6C"/>
                </a:solidFill>
                <a:latin typeface="Arial"/>
                <a:ea typeface="Arial"/>
                <a:cs typeface="Arial"/>
              </a:rPr>
              <a:t>Cada fila suma 1. Los valores de la diagonal representan aciertos por clase; las celdas fuera de ella muestran hacia qué grupo se desplaza el error.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FB2E1-B2D0-43E5-B96E-AC1EB336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D9195-7E31-487A-B1DF-DC5431C7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4577818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5F4EC-82DB-4A9F-8F0B-8BF19E6D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Aplicación interactiva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0DA14-BE97-4E1E-98BC-1ADA8760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solidFill>
              <a:srgbClr val="C391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C634E-6979-4CC5-A2BA-E18B2E80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CD875-3B59-4CC6-843B-B42E52317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ad0c1f29c4eed"/>
          <a:stretch xmlns:a="http://schemas.openxmlformats.org/drawingml/2006/main"/>
        </p:blipFill>
        <p:spPr>
          <a:xfrm xmlns:a="http://schemas.openxmlformats.org/drawingml/2006/main">
            <a:off x="609600" y="1630363"/>
            <a:ext cx="5257800" cy="35782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8D5E2-29C1-4CB8-BD1C-8EE4FFBA1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adf0fdc004735"/>
          <a:stretch xmlns:a="http://schemas.openxmlformats.org/drawingml/2006/main"/>
        </p:blipFill>
        <p:spPr>
          <a:xfrm xmlns:a="http://schemas.openxmlformats.org/drawingml/2006/main">
            <a:off x="6324600" y="1630363"/>
            <a:ext cx="5257800" cy="35782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AE3A4-6F19-4A4B-863E-AE05D55C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Clasificar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8D2EF-74B5-4FCC-8B51-170F9A83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67350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Comparar modelos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35C13-1F02-4FC4-ACE3-892D452D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6C"/>
                </a:solidFill>
                <a:latin typeface="Arial"/>
                <a:ea typeface="Arial"/>
                <a:cs typeface="Arial"/>
              </a:rPr>
              <a:t>La aplicación también permite explorar variables limpias y ocultar las métricas cuando el usuario no desea verlas.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97212-1C6B-44D7-910C-AC455CF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1F5DE-78FE-4F76-B7A5-6125ED0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8085764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41A0F-8422-4967-B3D1-F490FC1D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Conclusiones y siguiente iteración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F5813-BDF7-4B15-9165-8C348284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solidFill>
              <a:srgbClr val="C391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D2B37-F6C0-4357-93D0-FF72DD85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7B68E-327B-4B7A-9E3F-FE94144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29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173A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42565-8F42-4EE4-9FB0-44F046A6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913C"/>
                </a:solidFill>
                <a:latin typeface="Arial"/>
                <a:ea typeface="Arial"/>
                <a:cs typeface="Arial"/>
              </a:rPr>
              <a:t>RESULTADO PARCIAL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EC1BC-84A6-43DE-8697-E20A03BF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3981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Bosque aleatorio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468CB-7D10-42CC-8572-6CD3E3E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F0E4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0E4CF"/>
                </a:solidFill>
                <a:latin typeface="Arial"/>
                <a:ea typeface="Arial"/>
                <a:cs typeface="Arial"/>
              </a:rPr>
              <a:t>0.267 F1 macro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081A5-CA01-4FBE-9F67-DAB2DB4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Exactitud balanceada 0.284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3D2FE-5ED9-456E-92AA-17573F1D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3981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>
                <a:solidFill>
                  <a:srgbClr val="F0E4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0E4CF"/>
                </a:solidFill>
                <a:latin typeface="Arial"/>
                <a:ea typeface="Arial"/>
                <a:cs typeface="Arial"/>
              </a:rPr>
              <a:t>El baseline establece una referencia reproducible, pero las clases minoritarias todavía requieren más datos y una evaluación repetida.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04B5A-E94C-4D92-BA29-172E22C2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Siguiente iteración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213BA-23AF-4DBC-8E6B-6A79CF3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Entrenar una red ligera con transferencia de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Aplicar aumentación y pérdidas sensibles al desbalance.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Calibrar probabilidades y repetir la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Comparar el recorte anotado contra la fotografía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Mantener revisión humana para predicciones de baja confianza.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3539A-3ACF-461D-9ECB-390E6CE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00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A64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64B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4B38"/>
                </a:solidFill>
                <a:latin typeface="Arial"/>
                <a:ea typeface="Arial"/>
                <a:cs typeface="Arial"/>
              </a:rPr>
              <a:t>La aplicación ya permite probar los tres modelos y auditar sus errores.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3D9B3-AD33-4A7A-86DD-6C088FFD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F5A58-7EA0-420F-A3ED-C1CCDE91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201130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2026-10-13T04:20:27.0450000Z</dcterms:created>
  <dcterms:modified xsi:type="dcterms:W3CDTF">2026-10-13T04:20:27.0450000Z</dcterms:modified>
</coreProperties>
</file>