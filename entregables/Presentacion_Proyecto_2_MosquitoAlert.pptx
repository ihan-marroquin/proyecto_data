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94b56f8bd34348" /><Relationship Type="http://schemas.openxmlformats.org/officeDocument/2006/relationships/extended-properties" Target="/docProps/app.xml" Id="R77005dd293364805" /><Relationship Type="http://schemas.openxmlformats.org/officeDocument/2006/relationships/officeDocument" Target="/ppt/presentation.xml" Id="R761f02fb6d2f44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54dac5bdaa40d9"/>
  </p:sldMasterIdLst>
  <p:notesMasterIdLst>
    <p:notesMasterId xmlns:r="http://schemas.openxmlformats.org/officeDocument/2006/relationships" r:id="R26c2d376e1604b3a"/>
  </p:notesMasterIdLst>
  <p:sldIdLst>
    <p:sldId xmlns:r="http://schemas.openxmlformats.org/officeDocument/2006/relationships" id="256" r:id="R38a8327ae0594910"/>
    <p:sldId xmlns:r="http://schemas.openxmlformats.org/officeDocument/2006/relationships" id="257" r:id="R1f006eab55624f24"/>
    <p:sldId xmlns:r="http://schemas.openxmlformats.org/officeDocument/2006/relationships" id="258" r:id="Rf1e09d7e144e47ac"/>
    <p:sldId xmlns:r="http://schemas.openxmlformats.org/officeDocument/2006/relationships" id="259" r:id="R830c946fb2f243bb"/>
    <p:sldId xmlns:r="http://schemas.openxmlformats.org/officeDocument/2006/relationships" id="260" r:id="R1ec12cbd7add4ffd"/>
    <p:sldId xmlns:r="http://schemas.openxmlformats.org/officeDocument/2006/relationships" id="261" r:id="R5aaa4949bc524a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7dfd48e91b411a" /><Relationship Type="http://schemas.openxmlformats.org/officeDocument/2006/relationships/slideMaster" Target="/ppt/slideMasters/slideMaster1.xml" Id="R6f54dac5bdaa40d9" /><Relationship Type="http://schemas.openxmlformats.org/officeDocument/2006/relationships/notesMaster" Target="/ppt/notesMasters/notesMaster1.xml" Id="R26c2d376e1604b3a" /><Relationship Type="http://schemas.openxmlformats.org/officeDocument/2006/relationships/presProps" Target="/ppt/presProps.xml" Id="R04da0c87b30045d3" /><Relationship Type="http://schemas.openxmlformats.org/officeDocument/2006/relationships/tableStyles" Target="/ppt/tableStyles.xml" Id="Ra9d54543f3504a08" /><Relationship Type="http://schemas.openxmlformats.org/officeDocument/2006/relationships/slide" Target="/ppt/slides/slide1.xml" Id="R38a8327ae0594910" /><Relationship Type="http://schemas.openxmlformats.org/officeDocument/2006/relationships/slide" Target="/ppt/slides/slide2.xml" Id="R1f006eab55624f24" /><Relationship Type="http://schemas.openxmlformats.org/officeDocument/2006/relationships/slide" Target="/ppt/slides/slide3.xml" Id="Rf1e09d7e144e47ac" /><Relationship Type="http://schemas.openxmlformats.org/officeDocument/2006/relationships/slide" Target="/ppt/slides/slide4.xml" Id="R830c946fb2f243bb" /><Relationship Type="http://schemas.openxmlformats.org/officeDocument/2006/relationships/slide" Target="/ppt/slides/slide5.xml" Id="R1ec12cbd7add4ffd" /><Relationship Type="http://schemas.openxmlformats.org/officeDocument/2006/relationships/slide" Target="/ppt/slides/slide6.xml" Id="R5aaa4949bc524a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1e2ed1b47f45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271d847f204844" /><Relationship Type="http://schemas.openxmlformats.org/officeDocument/2006/relationships/notesMaster" Target="/ppt/notesMasters/notesMaster1.xml" Id="R581259d509244b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4a89c6a93b463d" /><Relationship Type="http://schemas.openxmlformats.org/officeDocument/2006/relationships/notesMaster" Target="/ppt/notesMasters/notesMaster1.xml" Id="R7f2a33b337cd4d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04fa45ef974f0c" /><Relationship Type="http://schemas.openxmlformats.org/officeDocument/2006/relationships/notesMaster" Target="/ppt/notesMasters/notesMaster1.xml" Id="Ra9035863697549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5445c85bfd483b" /><Relationship Type="http://schemas.openxmlformats.org/officeDocument/2006/relationships/notesMaster" Target="/ppt/notesMasters/notesMaster1.xml" Id="R4b249f09d3c949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ad4274699644b5" /><Relationship Type="http://schemas.openxmlformats.org/officeDocument/2006/relationships/notesMaster" Target="/ppt/notesMasters/notesMaster1.xml" Id="R87f7af753b9045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d5ca5d14524a8d" /><Relationship Type="http://schemas.openxmlformats.org/officeDocument/2006/relationships/notesMaster" Target="/ppt/notesMasters/notesMaster1.xml" Id="Rdb6097e049c549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basada en Proyecto_2.docx y Proyecto_2_MosquitoAlert.ipynb. Dataset: AI Mosquito Alert Challenge 2023, Zenodo DOI 10.5281/zenodo.15063886.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proyecto estudia el dataset antes de entrenar un modelo. No realiza diagnóstico médico. Cada imagen tiene una anotación que ubica al mosquito y asigna una clase. Fuente: informe y notebook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posición se normalizó entre 0 y 1 para comparar fotografías de diferentes tamaños. La concentración cerca de 0.5 indica tendencia a centrar el mosquito, un posible sesgo de encuadre que debe vigilarse. Fuente: notebook, celda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Albopictus tiene 4,612 imágenes y Culex 4,563. Aegypti tiene 47 y Anopheles 84. Por eso conviene usar particiones estratificadas y métricas por clase, no solo exactitud global. Fuente: informe, tabla de distribución de clases; notebook, celda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completitud es alta: no hay faltantes, duplicados ni imágenes sin anotación. Los tres casos inválidos exceden el ancho registrado. Los valores extremos no se eliminaron automáticamente porque pueden representar variación real. Fuente: informe, secciones de calidad, variables cuantitativas y outliers; notebook, celdas 9, 13, 19 y 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siguiente fase debe priorizar el equilibrio de clases y la robustez ante objetos pequeños o grandes. Las métricas por clase permitirán detectar si el modelo falla en Aegypti o Anopheles aunque el resultado global parezca alto. Fuente: conclusiones del informe.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d2975b2a6841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99565acfa4426a" /><Relationship Type="http://schemas.openxmlformats.org/officeDocument/2006/relationships/slideLayout" Target="/ppt/slideLayouts/slideLayout1.xml" Id="Rc27a76fb38324a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7a76fb38324a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06cf911b440a3" /><Relationship Type="http://schemas.openxmlformats.org/officeDocument/2006/relationships/image" Target="/ppt/media/image.png" Id="Re420800004064951" /><Relationship Type="http://schemas.openxmlformats.org/officeDocument/2006/relationships/notesSlide" Target="/ppt/notesSlides/notesSlide1.xml" Id="R2ff7dba6d3c24d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e1cd1f5384d18" /><Relationship Type="http://schemas.openxmlformats.org/officeDocument/2006/relationships/notesSlide" Target="/ppt/notesSlides/notesSlide2.xml" Id="R9343bfda96cb40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d732ce7b24813" /><Relationship Type="http://schemas.openxmlformats.org/officeDocument/2006/relationships/image" Target="/ppt/media/image2.png" Id="Rc89e9e26657f4594" /><Relationship Type="http://schemas.openxmlformats.org/officeDocument/2006/relationships/notesSlide" Target="/ppt/notesSlides/notesSlide3.xml" Id="R215d74fe6a5c45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b5cb34bd1442c" /><Relationship Type="http://schemas.openxmlformats.org/officeDocument/2006/relationships/chart" Target="/ppt/slides/charts/chart1.xml" Id="R4384a9e749094bb6" /><Relationship Type="http://schemas.openxmlformats.org/officeDocument/2006/relationships/notesSlide" Target="/ppt/notesSlides/notesSlide4.xml" Id="Rb97f5492d3a844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cd7bb1d014b45" /><Relationship Type="http://schemas.openxmlformats.org/officeDocument/2006/relationships/image" Target="/ppt/media/image3.png" Id="Rc5bd4b0669424dc0" /><Relationship Type="http://schemas.openxmlformats.org/officeDocument/2006/relationships/notesSlide" Target="/ppt/notesSlides/notesSlide5.xml" Id="Rb1841d6ffda448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7039dff384506" /><Relationship Type="http://schemas.openxmlformats.org/officeDocument/2006/relationships/notesSlide" Target="/ppt/notesSlides/notesSlide6.xml" Id="Rfe70f6fb34a04a0b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73A2B"/>
                </a:solidFill>
                <a:latin typeface="Arial"/>
                <a:ea typeface="Arial"/>
                <a:cs typeface="Arial"/>
              </a:rPr>
              <a:t>Cantidad de imágenes por grupo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73A2B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Imágenes</c:v>
          </c:tx>
          <c:spPr>
            <a:solidFill xmlns:a="http://schemas.openxmlformats.org/drawingml/2006/main">
              <a:srgbClr val="2D5A45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3913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3913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5A4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D5A45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D5A45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D5A45"/>
              </a:solidFill>
            </c:spPr>
          </c:dPt>
          <c:cat>
            <c:strLit>
              <c:ptCount val="6"/>
              <c:pt idx="0">
                <c:v>Aegypti</c:v>
              </c:pt>
              <c:pt idx="1">
                <c:v>Anopheles</c:v>
              </c:pt>
              <c:pt idx="2">
                <c:v>Japonicus-koreicus</c:v>
              </c:pt>
              <c:pt idx="3">
                <c:v>Culiseta</c:v>
              </c:pt>
              <c:pt idx="4">
                <c:v>Culex</c:v>
              </c:pt>
              <c:pt idx="5">
                <c:v>Albopictus</c:v>
              </c:pt>
            </c:strLit>
          </c:cat>
          <c:val>
            <c:numLit>
              <c:formatCode>General</c:formatCode>
              <c:ptCount val="6"/>
              <c:pt idx="0">
                <c:v>47</c:v>
              </c:pt>
              <c:pt idx="1">
                <c:v>84</c:v>
              </c:pt>
              <c:pt idx="2">
                <c:v>429</c:v>
              </c:pt>
              <c:pt idx="3">
                <c:v>622</c:v>
              </c:pt>
              <c:pt idx="4">
                <c:v>4563</c:v>
              </c:pt>
              <c:pt idx="5">
                <c:v>4612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23312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5E9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E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D5797-F212-4DAD-807A-7771291C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0"/>
            <a:ext cx="2247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354EE-9E10-4A39-8912-C0439513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100" b="1" i="0">
                <a:solidFill>
                  <a:srgbClr val="2D5A45"/>
                </a:solidFill>
                <a:latin typeface="Arial"/>
                <a:ea typeface="Arial"/>
                <a:cs typeface="Arial"/>
              </a:defRPr>
            </a:pPr>
            <a:r>
              <a:rPr sz="14100" b="1" i="0">
                <a:solidFill>
                  <a:srgbClr val="2D5A45"/>
                </a:solidFill>
                <a:latin typeface="Arial"/>
                <a:ea typeface="Arial"/>
                <a:cs typeface="Arial"/>
              </a:rPr>
              <a:t>EDA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0800004064951"/>
          <a:stretch xmlns:a="http://schemas.openxmlformats.org/drawingml/2006/main"/>
        </p:blipFill>
        <p:spPr>
          <a:xfrm xmlns:a="http://schemas.openxmlformats.org/drawingml/2006/main">
            <a:off x="687393" y="514350"/>
            <a:ext cx="720714" cy="1066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847E4-C907-47E5-BF37-88BD57DB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4E3CD-510A-416B-850E-4E20963F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Análisis exploratorio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Mosquito Alert Challenge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B21C1-A393-420F-8E90-3CD4D1B3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F0E4C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0E4CF"/>
                </a:solidFill>
                <a:latin typeface="Arial"/>
                <a:ea typeface="Arial"/>
                <a:cs typeface="Arial"/>
              </a:rPr>
              <a:t>Identificación automática de mosquitos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3D1D8-64BB-4034-AE93-E46D77BB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Ihan Marroquin · Diego Patzan · Milton Polanco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73464-33F0-499B-9D08-4EBC1B4B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E5E9E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5E9E3"/>
                </a:solidFill>
                <a:latin typeface="Arial"/>
                <a:ea typeface="Arial"/>
                <a:cs typeface="Arial"/>
              </a:rPr>
              <a:t>Guatemala · Septiembre 2026</a:t>
            </a:r>
          </a:p>
        </p:txBody>
      </p:sp>
    </p:spTree>
    <p:extLst>
      <p:ext uri="{BB962C8B-B14F-4D97-AF65-F5344CB8AC3E}">
        <p14:creationId xmlns:p14="http://schemas.microsoft.com/office/powerpoint/2010/main" val="424299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38649-CDD0-4132-A142-2A2588A4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Contexto y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F5A80-426D-418D-93D7-3B2A3451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BCCCD-9F08-4EAA-A7BE-E6BE67A9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A0E7A-B05D-46D4-8BDE-9CE32D79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Pregunta central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F2B50-F647-44EB-8A03-78658FFC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25" b="1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¿Qué tan listo está el conjunto de imágenes para entrenar un modelo de identificación automática?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5F008-3C4A-4215-A664-12B5C875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62100"/>
            <a:ext cx="381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607CE-1FF4-45FD-85DF-663D12F7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81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E30A5-A1E5-4A96-9961-3C8AAD03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8120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Revisar si existen suficientes ejemplos por grupo y si las imágenes y sus anotaciones tienen la calidad necesaria para una fase posterior de modelado.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A3ABA-7430-481F-AC5B-5AE8D5A7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5B5CE-E477-4272-BC54-5D1B8642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10,357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DA882-BB76-4608-892E-D281CBD5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imágenes con anotación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4736F-1974-4E5B-86A7-EC5AC5C2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148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A8B66-F148-47D0-B997-453B2DCA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197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grupos taxonómicos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5C841-8998-4ABC-AF77-5DD3AD5C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1:1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0116E-152B-4066-97ED-0723F925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197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correspondencia entre imágenes y registros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1DC90-1467-42D0-8E5B-EEAAC0CB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165F7-CC34-4D2C-9D80-57F45249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980263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3B7CF-A09E-485C-9F01-ADF53C18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Trabajo realizado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1AE71-F1CA-44EB-8D00-87B98B38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1EC1F-FCB2-4730-8E20-F682D891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1882A-ED7A-41F2-B3EF-AB475AC8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F20A3-F785-4852-81BE-65AAA0F1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Preparación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452BE-A8EF-4ACC-95EE-B2389566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85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Descarga, carga y verificación de los 10,357 registros.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E1AA3-B89C-4F49-9A9C-DE2DB232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A5A1D-E38A-440B-8026-8E264152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574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Control de calidad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519AC-6F77-4B87-BD02-5A357466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194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Revisión de faltantes, duplicados, archivos y anotaciones inválidas.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D3AF1-4BFE-4171-9FFC-F1EC96B4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72F6C-7475-4410-87BA-5E34C5C5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909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Distribución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7D13E-721F-480A-9180-D78B069F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529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Comparación de la cantidad de imágenes disponible para cada grupo.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BEB20-8287-44DE-8A25-BBF050BA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8EE72-E962-4D21-9722-F3B39B80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2442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Escala y posición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0FCFE-60DA-4632-BA84-DBA01137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863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Análisis del tamaño del mosquito y de su ubicación dentro de la fotografía.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BB9D9-9343-4A24-8310-92FC8E85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53530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e9e26657f4594"/>
          <a:stretch xmlns:a="http://schemas.openxmlformats.org/drawingml/2006/main"/>
        </p:blipFill>
        <p:spPr>
          <a:xfrm xmlns:a="http://schemas.openxmlformats.org/drawingml/2006/main">
            <a:off x="6238875" y="1726675"/>
            <a:ext cx="3333750" cy="333797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A224D-5A36-429D-9A36-F9B7BADF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57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Encuadre central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EC3AB8-29C3-4FD3-8C9A-D31733B7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28950"/>
            <a:ext cx="135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Centro promedio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(0.490, 0.496)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6CA26-EBA6-48EC-B785-177249D0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53050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El notebook se ejecutó de inicio a fin sin errores.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66616-B181-45AB-87A1-DCDE9EC5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E8EB68-3C53-497E-847C-A61630C8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2119476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AA2C5-E7CE-4D80-B9E2-8DE6574B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El conjunto está fuertemente desbalanceado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FA05C-95B4-47B7-A06A-97B664CB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3CF9A-941C-481D-9CCE-E8FF7029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95300" y="1504950"/>
          <a:ext xmlns:a="http://schemas.openxmlformats.org/drawingml/2006/main" cx="7286625" cy="4305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84a9e749094bb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A0E54-8256-4172-8BAC-07320022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3009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88.59%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FC691-16D9-41DA-9B73-050C2FC3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725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de las imágenes pertenecen a Albopictus o Culex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225D0-7272-454C-9F92-89408649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AD6A1-05CC-4CF6-A24F-E4016EC7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623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98:1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551D3-2D74-42CD-8364-3027FA63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481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relación aproximada entre la clase mayoritaria y la minoritaria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26F9B-8861-4037-8AE6-53AF2D56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768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A64B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64B38"/>
                </a:solidFill>
                <a:latin typeface="Arial"/>
                <a:ea typeface="Arial"/>
                <a:cs typeface="Arial"/>
              </a:rPr>
              <a:t>Una exactitud global podría ocultar errores en los grupos con pocos ejemplos.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A31CA-FA0F-4F91-9154-A263DBDC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2D77C-D598-4895-9A72-4ED2FB27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10518749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E6A38-5705-4287-BABE-3AF46D3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Calidad y variabilidad de las imágenes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36350-6EC5-45D2-B35D-C5C85CDE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9AD00-2035-48A5-900F-DCF524A4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d4b0669424dc0"/>
          <a:stretch xmlns:a="http://schemas.openxmlformats.org/drawingml/2006/main"/>
        </p:blipFill>
        <p:spPr>
          <a:xfrm xmlns:a="http://schemas.openxmlformats.org/drawingml/2006/main">
            <a:off x="609600" y="1658733"/>
            <a:ext cx="6572250" cy="419776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064DF-73E8-4A72-86FC-841727C8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Fondos, iluminación y escala cambian entre fotografías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1A898-04F1-40EB-9384-C8D0F40F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24000"/>
            <a:ext cx="381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48C5E-7D5B-4D6B-8C51-B6244734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57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Completitud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68F6C-E98C-4C08-9379-E4F74DEA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19300"/>
            <a:ext cx="70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AE296-88E8-4756-BB3E-B40E3195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faltantes y 0 duplicados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DB379-11F2-41AE-91D9-2CCCF8F1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Anotaciones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079E8-5FFF-4635-9D32-261B929F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3257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725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3 cajas exceden el ancho de la imagen y requieren revisión antes del entrenamiento.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AE4A2-2D59-4716-83EA-D7541752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Escala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F35A9-E8CD-4B16-AF2E-9AAC2824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3257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 i="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3312A"/>
                </a:solidFill>
                <a:latin typeface="Arial"/>
                <a:ea typeface="Arial"/>
                <a:cs typeface="Arial"/>
              </a:rPr>
              <a:t>La caja ocupa una mediana de 7.29% del área. La resolución va de 139 × 106 a 9,280 × 12,000 píxeles.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C9170-001C-409C-8393-B2A491CE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A71D4-1A2E-4E72-A48B-950D03F4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1305034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316D9-A131-4E6E-AAF3-672F59A7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Conclusiones y siguiente etapa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384ED-AB80-4EDA-BA6E-0910CE19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13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20B0F-116E-40F6-BBA2-2B88F7C6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5AED1-20FC-4FEC-9F0C-0A6D7BDC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292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73A2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6F739-5A77-45C3-A7B6-A0256F95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C3913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3913C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35334-9722-458B-B09C-2141C710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39814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dataset está listo para una fase de modelado, siempre que se corrijan tres anotaciones y se controle el desbalance y la variación de escala.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7DA7A-BC39-47D4-AA26-874A4098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00" b="0" i="0">
                <a:solidFill>
                  <a:srgbClr val="F0E4C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0E4CF"/>
                </a:solidFill>
                <a:latin typeface="Arial"/>
                <a:ea typeface="Arial"/>
                <a:cs typeface="Arial"/>
              </a:rPr>
              <a:t>La tendencia a centrar el mosquito también debe vigilarse para evitar que el modelo dependa del encuadre.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A5DEF-154F-426B-B95C-7B74E0E1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3A2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3A2B"/>
                </a:solidFill>
                <a:latin typeface="Arial"/>
                <a:ea typeface="Arial"/>
                <a:cs typeface="Arial"/>
              </a:rPr>
              <a:t>Siguiente etapa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EFD86-CA13-419C-BB67-2C9B557E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47625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lnSpc>
                <a:spcPct val="102000"/>
              </a:lnSpc>
              <a:spcAft>
                <a:spcPts val="1000"/>
              </a:spcAft>
              <a:buNone/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3312A"/>
                </a:solidFill>
                <a:latin typeface="Arial"/>
                <a:ea typeface="Arial"/>
                <a:cs typeface="Arial"/>
              </a:rPr>
              <a:t>Revisar y corregir o excluir las 3 cajas inválidas.</a:t>
            </a:r>
          </a:p>
          <a:p xmlns:a="http://schemas.openxmlformats.org/drawingml/2006/main">
            <a:pPr marL="266700" indent="-127000">
              <a:lnSpc>
                <a:spcPct val="102000"/>
              </a:lnSpc>
              <a:spcAft>
                <a:spcPts val="1000"/>
              </a:spcAft>
              <a:buNone/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3312A"/>
                </a:solidFill>
                <a:latin typeface="Arial"/>
                <a:ea typeface="Arial"/>
                <a:cs typeface="Arial"/>
              </a:rPr>
              <a:t>Crear divisiones estratificadas para entrenamiento y validación.</a:t>
            </a:r>
          </a:p>
          <a:p xmlns:a="http://schemas.openxmlformats.org/drawingml/2006/main">
            <a:pPr marL="266700" indent="-127000">
              <a:lnSpc>
                <a:spcPct val="102000"/>
              </a:lnSpc>
              <a:spcAft>
                <a:spcPts val="1000"/>
              </a:spcAft>
              <a:buNone/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3312A"/>
                </a:solidFill>
                <a:latin typeface="Arial"/>
                <a:ea typeface="Arial"/>
                <a:cs typeface="Arial"/>
              </a:rPr>
              <a:t>Redimensionar las imágenes sin deformar su proporción.</a:t>
            </a:r>
          </a:p>
          <a:p xmlns:a="http://schemas.openxmlformats.org/drawingml/2006/main">
            <a:pPr marL="266700" indent="-127000">
              <a:lnSpc>
                <a:spcPct val="102000"/>
              </a:lnSpc>
              <a:spcAft>
                <a:spcPts val="1000"/>
              </a:spcAft>
              <a:buNone/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3312A"/>
                </a:solidFill>
                <a:latin typeface="Arial"/>
                <a:ea typeface="Arial"/>
                <a:cs typeface="Arial"/>
              </a:rPr>
              <a:t>Reforzar las clases minoritarias con aumentación o ponderación.</a:t>
            </a:r>
          </a:p>
          <a:p xmlns:a="http://schemas.openxmlformats.org/drawingml/2006/main">
            <a:pPr marL="266700" indent="-127000">
              <a:lnSpc>
                <a:spcPct val="102000"/>
              </a:lnSpc>
              <a:spcAft>
                <a:spcPts val="1000"/>
              </a:spcAft>
              <a:buNone/>
              <a:defRPr sz="1650">
                <a:solidFill>
                  <a:srgbClr val="2331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3312A"/>
                </a:solidFill>
                <a:latin typeface="Arial"/>
                <a:ea typeface="Arial"/>
                <a:cs typeface="Arial"/>
              </a:rPr>
              <a:t>Evaluar resultados por clase y con métricas macro.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B6544-DED3-44E7-A187-7DF17B80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1020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A64B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64B38"/>
                </a:solidFill>
                <a:latin typeface="Arial"/>
                <a:ea typeface="Arial"/>
                <a:cs typeface="Arial"/>
              </a:rPr>
              <a:t>Resultado esperado: un modelo que reconozca grupos frecuentes y poco representados en condiciones visuales diversas.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04361-26B9-42D3-B463-E8864D35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9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399BC-7D72-4FA3-B605-D3A6FA25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36C"/>
                </a:solidFill>
                <a:latin typeface="Arial"/>
                <a:ea typeface="Arial"/>
                <a:cs typeface="Arial"/>
              </a:rPr>
              <a:t>Proyecto 2 · Data Science · Universidad del Valle de Guatemala</a:t>
            </a:r>
          </a:p>
        </p:txBody>
      </p:sp>
    </p:spTree>
    <p:extLst>
      <p:ext uri="{BB962C8B-B14F-4D97-AF65-F5344CB8AC3E}">
        <p14:creationId xmlns:p14="http://schemas.microsoft.com/office/powerpoint/2010/main" val="1051040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2026-09-14T02:08:17.5550000Z</dcterms:created>
  <dcterms:modified xsi:type="dcterms:W3CDTF">2026-09-14T02:08:17.5550000Z</dcterms:modified>
</coreProperties>
</file>